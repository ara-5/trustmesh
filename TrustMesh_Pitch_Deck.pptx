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Open with the problem hook — 'Every 15 seconds, a SIM swap fraud attempt targets a financial transaction in the MENA region.'
 • Today we show you how telecom network intelligence stops it.
 • Let the title and tagline land for 2 seconds before speaking.
 • Establish credibility: this is a serious fintech security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Pause on the 43% UAE stat — let it land.
 • These aren't just numbers. Each represents real customers losing money while banks scramble to detect attacks they can't see.
 • The $248B market at risk shows the scale of what's unprotected.
 • Key insight: traditional systems are blind to telecom-layer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Emphasize 'agentic' — the AI decides which APIs to call, it's not a user clicking buttons.
 • This is the key differentiator the judges are looking for.
 • The 200ms response time is critical for real-time transaction flows.
 • Step-up orchestration is more sophisticated than simple block/allow.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through the flow in 30 seconds.
 • Key point: step 2 is where the magic happens — the agent decides WHICH APIs to call based on context, not a hardcoded sequence.
 • Step 4 produces a natural-language explanation, not just a number.
 • Step 5 shows the nuance — it's not just block/allow, it's intelligent step-up.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Call out n8n specifically — it's on the approved tooling list, which is mandatory
 • Judges will verify tooling compliance, so this slide directly addresses that
 • Emphasize "zero external agent frameworks" — this is a constraint requirement
 • The Groq free tier keeps costs near-zero for the hackathon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money slide — the before/after is immediately intuitive
 • Practice this demo flow — it needs to feel smooth and confident
 • Emphasize the 87/100 risk score as a concrete, actionable output
 • Key contrast: invisible telecom signal vs. visible network intelligence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$39B remittance number is the anchor — shows sheer scale of transactions needing protection
 • Connect this to why SIM swap fraud is specifically devastating for remittances
 • 88% digital = 88% of transactions are exposed to SIM-swap-based OTP interception
 • Business model is designed to be incremental and non-disruptive to adopt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Don't read every row — highlight rows 1 and 3 as the key differentiators
 - The SIM swap detection alone is worth the price of admission
 - Stress that traditional systems literally cannot see SIM swaps
 - "LLM-powered contextual reasoning" means the agent adapts, unlike static rules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Keep this brief — 15 seconds max
 - If solo, say "I'm building this as a solo founder, but the architecture is designed to scale with a team"
 - Don't apologize for missing team members — own the placeholder
 - Move quickly to the closing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End with confidence: "TrustMesh: where telecom intelligence meets AI-driven fraud defense"
 - "We look forward to demoing this live in Phase 2. Thank you."
 - Pause after "Fraud Defense" — let the tagline land
 - No rush — this slide should breathe for a full 10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1500" y="-857250"/>
            <a:ext cx="3571875" cy="35718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1500" y="-857250"/>
            <a:ext cx="3571875" cy="357187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875" y="3714750"/>
            <a:ext cx="2857500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0875" y="3714750"/>
            <a:ext cx="2857500" cy="2857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60772" y="403622"/>
            <a:ext cx="2382329" cy="232172"/>
          </a:xfrm>
          <a:prstGeom prst="roundRect">
            <a:avLst>
              <a:gd name="adj" fmla="val 410256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57200" y="400050"/>
            <a:ext cx="2389473" cy="282761"/>
          </a:xfrm>
          <a:prstGeom prst="rect">
            <a:avLst/>
          </a:prstGeom>
          <a:noFill/>
          <a:ln/>
        </p:spPr>
        <p:txBody>
          <a:bodyPr wrap="square" lIns="114300" tIns="42863" rIns="114300" bIns="42863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37" kern="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GSMA MENA IGNITE HACKATHON 2026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57200" y="2064209"/>
            <a:ext cx="8636000" cy="475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spc="-63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TrustMesh</a:t>
            </a:r>
            <a:endParaRPr lang="en-US" sz="3150" dirty="0"/>
          </a:p>
        </p:txBody>
      </p:sp>
      <p:sp>
        <p:nvSpPr>
          <p:cNvPr id="9" name="Text 5"/>
          <p:cNvSpPr/>
          <p:nvPr/>
        </p:nvSpPr>
        <p:spPr>
          <a:xfrm>
            <a:off x="457200" y="2618519"/>
            <a:ext cx="400050" cy="21431"/>
          </a:xfrm>
          <a:prstGeom prst="roundRect">
            <a:avLst>
              <a:gd name="adj" fmla="val 8889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57200" y="2782825"/>
            <a:ext cx="40005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AI-Agent Orchestration of Telecom Network Signals for Real-Time Fraud Defense</a:t>
            </a:r>
            <a:endParaRPr lang="en-US" sz="1013" dirty="0"/>
          </a:p>
        </p:txBody>
      </p:sp>
      <p:sp>
        <p:nvSpPr>
          <p:cNvPr id="11" name="Text 7"/>
          <p:cNvSpPr/>
          <p:nvPr/>
        </p:nvSpPr>
        <p:spPr>
          <a:xfrm>
            <a:off x="457200" y="4593431"/>
            <a:ext cx="662404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Theme 4: Secure Fintech, Payments &amp; Anti-Fraud Innovation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968228" y="4604147"/>
            <a:ext cx="17185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C8D6E5">
                    <a:alpha val="6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Idea Phase Submission | July 2026</a:t>
            </a:r>
            <a:endParaRPr lang="en-US" sz="73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 Swap Fraud Is Crippling MENA Fintech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60772" y="946547"/>
            <a:ext cx="4036219" cy="1600200"/>
          </a:xfrm>
          <a:prstGeom prst="roundRect">
            <a:avLst>
              <a:gd name="adj" fmla="val 8333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4369" y="1500746"/>
            <a:ext cx="3629025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$6.7B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664369" y="1886508"/>
            <a:ext cx="3738753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Global OTP fraud losses annually (2025)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647009" y="946547"/>
            <a:ext cx="4036219" cy="1600200"/>
          </a:xfrm>
          <a:prstGeom prst="roundRect">
            <a:avLst>
              <a:gd name="adj" fmla="val 8333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50606" y="1500746"/>
            <a:ext cx="3629025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EF444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43%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4850606" y="1886508"/>
            <a:ext cx="3738753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Increase in scam attempts in the UAE (IDEMIA 2026)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0772" y="2696766"/>
            <a:ext cx="4036219" cy="1600200"/>
          </a:xfrm>
          <a:prstGeom prst="roundRect">
            <a:avLst>
              <a:gd name="adj" fmla="val 8333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4369" y="3250964"/>
            <a:ext cx="3629025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62%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664369" y="3636727"/>
            <a:ext cx="36290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UAE banks report rising fraud losses exceeding $5M each year (BioCatch)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4647009" y="2696766"/>
            <a:ext cx="4036219" cy="1600200"/>
          </a:xfrm>
          <a:prstGeom prst="roundRect">
            <a:avLst>
              <a:gd name="adj" fmla="val 8333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50606" y="3250964"/>
            <a:ext cx="3629025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$248B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4850606" y="3636727"/>
            <a:ext cx="362902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MENA digital payments market at risk (2025, Mordor Intelligence)</a:t>
            </a:r>
            <a:endParaRPr lang="en-US" sz="731" dirty="0"/>
          </a:p>
        </p:txBody>
      </p:sp>
      <p:sp>
        <p:nvSpPr>
          <p:cNvPr id="15" name="Text 13"/>
          <p:cNvSpPr/>
          <p:nvPr/>
        </p:nvSpPr>
        <p:spPr>
          <a:xfrm>
            <a:off x="457200" y="4443413"/>
            <a:ext cx="8229600" cy="329184"/>
          </a:xfrm>
          <a:prstGeom prst="rect">
            <a:avLst/>
          </a:prstGeom>
          <a:noFill/>
          <a:ln/>
        </p:spPr>
        <p:txBody>
          <a:bodyPr wrap="square" lIns="0" tIns="142875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C8D6E5">
                    <a:alpha val="5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Traditional fraud detection relies on behavioral heuristics — it cannot see the telecom-layer attack vectors that SIM swap fraud exploits.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1083171"/>
            <a:ext cx="4262810" cy="192881"/>
          </a:xfrm>
          <a:prstGeom prst="roundRect">
            <a:avLst>
              <a:gd name="adj" fmla="val 493828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079599"/>
            <a:ext cx="426995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34" kern="0" dirty="0">
                <a:solidFill>
                  <a:srgbClr val="60A5F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INTRODUCING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422499"/>
            <a:ext cx="5465540" cy="35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363" b="1" spc="-4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TrustMesh</a:t>
            </a:r>
            <a:endParaRPr lang="en-US" sz="2363" dirty="0"/>
          </a:p>
        </p:txBody>
      </p:sp>
      <p:sp>
        <p:nvSpPr>
          <p:cNvPr id="5" name="Text 3"/>
          <p:cNvSpPr/>
          <p:nvPr/>
        </p:nvSpPr>
        <p:spPr>
          <a:xfrm>
            <a:off x="457200" y="1838176"/>
            <a:ext cx="426995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AI Agent That Reads Telecom Signals to Stop Fraud in Real Time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238226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3B82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6132" y="226715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8" name="Text 6"/>
          <p:cNvSpPr/>
          <p:nvPr/>
        </p:nvSpPr>
        <p:spPr>
          <a:xfrm>
            <a:off x="842963" y="2238226"/>
            <a:ext cx="40784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Agentic Decision Engine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842963" y="2420392"/>
            <a:ext cx="3884191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LLM-powered agent autonomously decides which CAMARA APIs to call and interprets the results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84678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3B82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6132" y="287571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842963" y="2846784"/>
            <a:ext cx="40784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Step-Up Orchestration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842963" y="3028950"/>
            <a:ext cx="3884191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Instead of binary block/allow, the agent selects the right verification step based on risk context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3455343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3B82F6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6132" y="348427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842963" y="3455343"/>
            <a:ext cx="4078400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200ms Response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842963" y="3637508"/>
            <a:ext cx="3884191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 API checks complete in under 200ms, embedded seamlessly into existing transaction flows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63071" y="1360884"/>
            <a:ext cx="707231" cy="707231"/>
          </a:xfrm>
          <a:prstGeom prst="ellipse">
            <a:avLst/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39949" y="1769864"/>
            <a:ext cx="55347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 Swap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82027" y="1579840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828" dirty="0"/>
          </a:p>
        </p:txBody>
      </p:sp>
      <p:sp>
        <p:nvSpPr>
          <p:cNvPr id="21" name="Text 19"/>
          <p:cNvSpPr/>
          <p:nvPr/>
        </p:nvSpPr>
        <p:spPr>
          <a:xfrm>
            <a:off x="7463321" y="1360884"/>
            <a:ext cx="707231" cy="707231"/>
          </a:xfrm>
          <a:prstGeom prst="ellipse">
            <a:avLst/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96333" y="1769864"/>
            <a:ext cx="84120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Number Verify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2277" y="1579840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828" dirty="0"/>
          </a:p>
        </p:txBody>
      </p:sp>
      <p:sp>
        <p:nvSpPr>
          <p:cNvPr id="24" name="Text 22"/>
          <p:cNvSpPr/>
          <p:nvPr/>
        </p:nvSpPr>
        <p:spPr>
          <a:xfrm>
            <a:off x="5534509" y="2789634"/>
            <a:ext cx="707231" cy="707231"/>
          </a:xfrm>
          <a:prstGeom prst="ellipse">
            <a:avLst/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467521" y="3198614"/>
            <a:ext cx="841207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Device Status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753465" y="3008590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828" dirty="0"/>
          </a:p>
        </p:txBody>
      </p:sp>
      <p:sp>
        <p:nvSpPr>
          <p:cNvPr id="27" name="Shape 25"/>
          <p:cNvSpPr/>
          <p:nvPr/>
        </p:nvSpPr>
        <p:spPr>
          <a:xfrm>
            <a:off x="6173874" y="1757362"/>
            <a:ext cx="503470" cy="183248"/>
          </a:xfrm>
          <a:prstGeom prst="line">
            <a:avLst/>
          </a:prstGeom>
          <a:noFill/>
          <a:ln w="14288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56280" y="1940610"/>
            <a:ext cx="503470" cy="-183248"/>
          </a:xfrm>
          <a:prstGeom prst="line">
            <a:avLst/>
          </a:prstGeom>
          <a:noFill/>
          <a:ln w="14288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09593" y="3207544"/>
            <a:ext cx="388466" cy="-181145"/>
          </a:xfrm>
          <a:prstGeom prst="line">
            <a:avLst/>
          </a:prstGeom>
          <a:noFill/>
          <a:ln w="14288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9612" y="2114550"/>
            <a:ext cx="914400" cy="914400"/>
          </a:xfrm>
          <a:prstGeom prst="ellipse">
            <a:avLst/>
          </a:prstGeom>
          <a:solidFill>
            <a:srgbClr val="3B82F6">
              <a:alpha val="15000"/>
            </a:srgbClr>
          </a:solidFill>
          <a:ln w="14288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0" dist="50800" dir="16200000">
              <a:srgbClr val="3B82F6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46012" y="2644973"/>
            <a:ext cx="5414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 Agent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51077" y="2406015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7320446" y="3218259"/>
            <a:ext cx="778669" cy="564356"/>
          </a:xfrm>
          <a:prstGeom prst="roundRect">
            <a:avLst>
              <a:gd name="adj" fmla="val 20253"/>
            </a:avLst>
          </a:prstGeom>
          <a:solidFill>
            <a:srgbClr val="10B981">
              <a:alpha val="12000"/>
            </a:srgbClr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615877" y="3450431"/>
            <a:ext cx="35925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Allow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16555" y="340721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6427477" y="3218259"/>
            <a:ext cx="778669" cy="564356"/>
          </a:xfrm>
          <a:prstGeom prst="roundRect">
            <a:avLst>
              <a:gd name="adj" fmla="val 20253"/>
            </a:avLst>
          </a:prstGeom>
          <a:solidFill>
            <a:srgbClr val="F59E0B">
              <a:alpha val="12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658712" y="3450431"/>
            <a:ext cx="4875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Step-Up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23586" y="340721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5534509" y="3218259"/>
            <a:ext cx="778669" cy="564356"/>
          </a:xfrm>
          <a:prstGeom prst="roundRect">
            <a:avLst>
              <a:gd name="adj" fmla="val 20253"/>
            </a:avLst>
          </a:prstGeom>
          <a:solidFill>
            <a:srgbClr val="EF4444">
              <a:alpha val="12000"/>
            </a:srgbClr>
          </a:solidFill>
          <a:ln w="7144">
            <a:solidFill>
              <a:srgbClr val="EF444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829883" y="3450431"/>
            <a:ext cx="35925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87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Block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830617" y="3407212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42" name="Shape 40"/>
          <p:cNvSpPr/>
          <p:nvPr/>
        </p:nvSpPr>
        <p:spPr>
          <a:xfrm>
            <a:off x="6959687" y="3493294"/>
            <a:ext cx="258978" cy="120763"/>
          </a:xfrm>
          <a:prstGeom prst="line">
            <a:avLst/>
          </a:prstGeom>
          <a:noFill/>
          <a:ln w="14288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16812" y="3214688"/>
            <a:ext cx="14288" cy="214313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414959" y="3614057"/>
            <a:ext cx="258978" cy="-120763"/>
          </a:xfrm>
          <a:prstGeom prst="line">
            <a:avLst/>
          </a:prstGeom>
          <a:noFill/>
          <a:ln w="14288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77907" y="3296841"/>
            <a:ext cx="258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34D399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33546" y="3296841"/>
            <a:ext cx="258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0" kern="0" dirty="0">
                <a:solidFill>
                  <a:srgbClr val="FBBF24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95343" y="3296841"/>
            <a:ext cx="2812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spc="20" kern="0" dirty="0">
                <a:solidFill>
                  <a:srgbClr val="F87171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86360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TrustMesh Works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60772" y="1003697"/>
            <a:ext cx="1455874" cy="3736181"/>
          </a:xfrm>
          <a:prstGeom prst="roundRect">
            <a:avLst>
              <a:gd name="adj" fmla="val 9159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16652" y="109299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8D6E5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2916" y="1178719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F59E0B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43635" y="1219438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597599" y="1650206"/>
            <a:ext cx="118222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 Event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2931" y="1837283"/>
            <a:ext cx="122730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payment or login triggers the agent via webhook (simulated in demo)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48793" y="2864644"/>
            <a:ext cx="171450" cy="14288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52390" y="1003697"/>
            <a:ext cx="1455986" cy="3736181"/>
          </a:xfrm>
          <a:prstGeom prst="roundRect">
            <a:avLst>
              <a:gd name="adj" fmla="val 9159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08381" y="109299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8D6E5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94645" y="1178719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35364" y="1219438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2318118" y="1650206"/>
            <a:ext cx="1124528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Reasoning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84549" y="1837283"/>
            <a:ext cx="122741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LLM analyzes the event context and decides which network signals to check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40522" y="2864644"/>
            <a:ext cx="171450" cy="14288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4119" y="1003697"/>
            <a:ext cx="1455874" cy="3736181"/>
          </a:xfrm>
          <a:prstGeom prst="roundRect">
            <a:avLst>
              <a:gd name="adj" fmla="val 9159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99999" y="109299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8D6E5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86263" y="1178719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3B82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26982" y="1219438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3B82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1" name="Text 19"/>
          <p:cNvSpPr/>
          <p:nvPr/>
        </p:nvSpPr>
        <p:spPr>
          <a:xfrm>
            <a:off x="3980946" y="1650206"/>
            <a:ext cx="118222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CAMARA API Calls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76278" y="1837283"/>
            <a:ext cx="12273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autonomously calls SIM Swap, Number Verification, and Device Status via Nokia NaC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32140" y="2864644"/>
            <a:ext cx="171450" cy="14288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35737" y="1003697"/>
            <a:ext cx="1455874" cy="3736181"/>
          </a:xfrm>
          <a:prstGeom prst="roundRect">
            <a:avLst>
              <a:gd name="adj" fmla="val 9159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91617" y="109299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8D6E5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77880" y="1178719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8B5CF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18600" y="1219438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28" name="Text 26"/>
          <p:cNvSpPr/>
          <p:nvPr/>
        </p:nvSpPr>
        <p:spPr>
          <a:xfrm>
            <a:off x="5854273" y="1650206"/>
            <a:ext cx="818802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 Scoring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667896" y="1837283"/>
            <a:ext cx="12273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synthesizes signals into a 0-100 risk score with a natural-language explanation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23757" y="2864644"/>
            <a:ext cx="171450" cy="14288"/>
          </a:xfrm>
          <a:prstGeom prst="rect">
            <a:avLst/>
          </a:prstGeom>
          <a:solidFill>
            <a:srgbClr val="3B82F6">
              <a:alpha val="3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227354" y="1003697"/>
            <a:ext cx="1455874" cy="3736181"/>
          </a:xfrm>
          <a:prstGeom prst="roundRect">
            <a:avLst>
              <a:gd name="adj" fmla="val 9159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383234" y="1092994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8D6E5">
                    <a:alpha val="3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769498" y="1178719"/>
            <a:ext cx="371475" cy="371475"/>
          </a:xfrm>
          <a:prstGeom prst="roundRect">
            <a:avLst>
              <a:gd name="adj" fmla="val 35897"/>
            </a:avLst>
          </a:prstGeom>
          <a:solidFill>
            <a:srgbClr val="10B981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810217" y="1219438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35" name="Text 33"/>
          <p:cNvSpPr/>
          <p:nvPr/>
        </p:nvSpPr>
        <p:spPr>
          <a:xfrm>
            <a:off x="7388906" y="1650206"/>
            <a:ext cx="113277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Step-Up Decision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59514" y="1837283"/>
            <a:ext cx="122730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selects the appropriate response: allow, OTP to email, biometric re-auth, or block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772" y="884039"/>
            <a:ext cx="3541849" cy="3136106"/>
          </a:xfrm>
          <a:prstGeom prst="roundRect">
            <a:avLst>
              <a:gd name="adj" fmla="val 3645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84113371644-hlkf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344" y="887611"/>
            <a:ext cx="3534705" cy="31289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5240" y="4123730"/>
            <a:ext cx="3832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8D6E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TrustMesh agent workflow in n8n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349093" y="82231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349093" y="958044"/>
            <a:ext cx="4771478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on Proven Infrastructure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349093" y="1432322"/>
            <a:ext cx="455459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Orchestration Layer:</a:t>
            </a:r>
            <a:endParaRPr lang="en-US" sz="844" dirty="0"/>
          </a:p>
        </p:txBody>
      </p:sp>
      <p:sp>
        <p:nvSpPr>
          <p:cNvPr id="8" name="Text 5"/>
          <p:cNvSpPr/>
          <p:nvPr/>
        </p:nvSpPr>
        <p:spPr>
          <a:xfrm>
            <a:off x="4349093" y="1593056"/>
            <a:ext cx="4337707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n8n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(community edition, self-hosted) — visual workflow builder with native AI Agent nodes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349093" y="2025923"/>
            <a:ext cx="4794907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AI Brain: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4349093" y="2186657"/>
            <a:ext cx="4337707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Groq Llama 3.3 70B</a:t>
            </a:r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(free tier) or Google Gemini Flash — fast inference for real-time decisions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349093" y="2619524"/>
            <a:ext cx="455459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Network Intelligence:</a:t>
            </a:r>
            <a:endParaRPr lang="en-US" sz="844" dirty="0"/>
          </a:p>
        </p:txBody>
      </p:sp>
      <p:sp>
        <p:nvSpPr>
          <p:cNvPr id="12" name="Text 9"/>
          <p:cNvSpPr/>
          <p:nvPr/>
        </p:nvSpPr>
        <p:spPr>
          <a:xfrm>
            <a:off x="4349093" y="2780258"/>
            <a:ext cx="4337707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CAMARA APIs via Nokia Network-as-Code — SIM Swap, Number Verification, Device Status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349093" y="3213125"/>
            <a:ext cx="455459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pPr algn="l" indent="0" marL="0">
              <a:lnSpc>
                <a:spcPts val="1097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Integration:</a:t>
            </a:r>
            <a:endParaRPr lang="en-US" sz="844" dirty="0"/>
          </a:p>
        </p:txBody>
      </p:sp>
      <p:sp>
        <p:nvSpPr>
          <p:cNvPr id="14" name="Text 11"/>
          <p:cNvSpPr/>
          <p:nvPr/>
        </p:nvSpPr>
        <p:spPr>
          <a:xfrm>
            <a:off x="4349093" y="3373859"/>
            <a:ext cx="4337707" cy="318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2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Webhook-triggered, REST API output — drops into any existing fintech transaction pipeline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349093" y="3921026"/>
            <a:ext cx="4337707" cy="400050"/>
          </a:xfrm>
          <a:prstGeom prst="roundRect">
            <a:avLst>
              <a:gd name="adj" fmla="val 19048"/>
            </a:avLst>
          </a:prstGeom>
          <a:solidFill>
            <a:srgbClr val="3B82F6">
              <a:alpha val="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359808" y="3921026"/>
            <a:ext cx="0" cy="400050"/>
          </a:xfrm>
          <a:prstGeom prst="line">
            <a:avLst/>
          </a:prstGeom>
          <a:noFill/>
          <a:ln w="21431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49093" y="3921026"/>
            <a:ext cx="4337707" cy="512064"/>
          </a:xfrm>
          <a:prstGeom prst="rect">
            <a:avLst/>
          </a:prstGeom>
          <a:noFill/>
          <a:ln/>
        </p:spPr>
        <p:txBody>
          <a:bodyPr wrap="square" lIns="100013" tIns="71438" rIns="100013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8D6E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AI agent tooling uses only the approved Resource &amp; Tooling Guide (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8D6E5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n8n</a:t>
            </a:r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8D6E5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is listed). Zero external agent frameworks.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78631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Live Demo: What Judges Will See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60772" y="1002246"/>
            <a:ext cx="3721894" cy="3737632"/>
          </a:xfrm>
          <a:prstGeom prst="roundRect">
            <a:avLst>
              <a:gd name="adj" fmla="val 3583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4369" y="1516596"/>
            <a:ext cx="33147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4369" y="122370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7" name="Text 5"/>
          <p:cNvSpPr/>
          <p:nvPr/>
        </p:nvSpPr>
        <p:spPr>
          <a:xfrm>
            <a:off x="892969" y="1205843"/>
            <a:ext cx="30861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41" kern="0" dirty="0">
                <a:solidFill>
                  <a:srgbClr val="F87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WITHOUT TRUSTMESH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664369" y="1705905"/>
            <a:ext cx="228600" cy="2286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443" y="172697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978694" y="1691618"/>
            <a:ext cx="30003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makes a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$5,000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remittance transfer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664369" y="2077380"/>
            <a:ext cx="228600" cy="2286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443" y="209845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13" name="Text 11"/>
          <p:cNvSpPr/>
          <p:nvPr/>
        </p:nvSpPr>
        <p:spPr>
          <a:xfrm>
            <a:off x="978694" y="2063093"/>
            <a:ext cx="3000375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 was swapped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hours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ago — but the bank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87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can't see it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664369" y="2527436"/>
            <a:ext cx="228600" cy="228600"/>
          </a:xfrm>
          <a:prstGeom prst="ellipse">
            <a:avLst/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443" y="254851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978694" y="2513149"/>
            <a:ext cx="3000375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 approved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8717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Fraud succeeds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8717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Money lost</a:t>
            </a:r>
            <a:endParaRPr lang="en-US" sz="844" dirty="0"/>
          </a:p>
        </p:txBody>
      </p:sp>
      <p:sp>
        <p:nvSpPr>
          <p:cNvPr id="17" name="Shape 15"/>
          <p:cNvSpPr/>
          <p:nvPr/>
        </p:nvSpPr>
        <p:spPr>
          <a:xfrm>
            <a:off x="664369" y="4168378"/>
            <a:ext cx="33147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369" y="4164806"/>
            <a:ext cx="3314700" cy="400050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8D6E5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Traditional systems check behavioral patterns, not network-layer signals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93406" y="2692412"/>
            <a:ext cx="357188" cy="357188"/>
          </a:xfrm>
          <a:prstGeom prst="ellipse">
            <a:avLst/>
          </a:prstGeom>
          <a:solidFill>
            <a:srgbClr val="111D33"/>
          </a:solidFill>
          <a:ln w="14288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86263" y="2685269"/>
            <a:ext cx="471488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45" kern="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61334" y="1002246"/>
            <a:ext cx="3721894" cy="3737632"/>
          </a:xfrm>
          <a:prstGeom prst="roundRect">
            <a:avLst>
              <a:gd name="adj" fmla="val 3583"/>
            </a:avLst>
          </a:prstGeom>
          <a:solidFill>
            <a:srgbClr val="111D33"/>
          </a:solidFill>
          <a:ln w="7144">
            <a:solidFill>
              <a:srgbClr val="10B98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164931" y="1516596"/>
            <a:ext cx="33147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4931" y="122370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5393531" y="1205843"/>
            <a:ext cx="30861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41" kern="0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TRUSTMESH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5164931" y="1705905"/>
            <a:ext cx="228600" cy="2286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86005" y="172697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266" dirty="0"/>
          </a:p>
        </p:txBody>
      </p:sp>
      <p:sp>
        <p:nvSpPr>
          <p:cNvPr id="27" name="Text 25"/>
          <p:cNvSpPr/>
          <p:nvPr/>
        </p:nvSpPr>
        <p:spPr>
          <a:xfrm>
            <a:off x="5479256" y="1691618"/>
            <a:ext cx="30003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makes a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$5,000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remittance transfer</a:t>
            </a:r>
            <a:endParaRPr lang="en-US" sz="844" dirty="0"/>
          </a:p>
        </p:txBody>
      </p:sp>
      <p:sp>
        <p:nvSpPr>
          <p:cNvPr id="28" name="Text 26"/>
          <p:cNvSpPr/>
          <p:nvPr/>
        </p:nvSpPr>
        <p:spPr>
          <a:xfrm>
            <a:off x="5164931" y="2077380"/>
            <a:ext cx="228600" cy="2286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86005" y="209845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60A5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30" name="Text 28"/>
          <p:cNvSpPr/>
          <p:nvPr/>
        </p:nvSpPr>
        <p:spPr>
          <a:xfrm>
            <a:off x="5479256" y="2063093"/>
            <a:ext cx="30003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 detects SIM swap in last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24h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device mismatch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5164931" y="2448855"/>
            <a:ext cx="228600" cy="2286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86005" y="246992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479256" y="2434568"/>
            <a:ext cx="3000375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 Score: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4D39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87/100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Agent triggers email OTP step-up</a:t>
            </a:r>
            <a:endParaRPr lang="en-US" sz="844" dirty="0"/>
          </a:p>
        </p:txBody>
      </p:sp>
      <p:sp>
        <p:nvSpPr>
          <p:cNvPr id="34" name="Text 32"/>
          <p:cNvSpPr/>
          <p:nvPr/>
        </p:nvSpPr>
        <p:spPr>
          <a:xfrm>
            <a:off x="5164931" y="2820330"/>
            <a:ext cx="228600" cy="228600"/>
          </a:xfrm>
          <a:prstGeom prst="ellipse">
            <a:avLst/>
          </a:prstGeom>
          <a:solidFill>
            <a:srgbClr val="10B98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86005" y="2841404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479256" y="2806043"/>
            <a:ext cx="3000375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verifies via registered email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34D3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Transaction allowed safely</a:t>
            </a:r>
            <a:endParaRPr lang="en-US" sz="844" dirty="0"/>
          </a:p>
        </p:txBody>
      </p:sp>
      <p:sp>
        <p:nvSpPr>
          <p:cNvPr id="37" name="Shape 35"/>
          <p:cNvSpPr/>
          <p:nvPr/>
        </p:nvSpPr>
        <p:spPr>
          <a:xfrm>
            <a:off x="5164931" y="4307681"/>
            <a:ext cx="33147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4931" y="4304109"/>
            <a:ext cx="3314700" cy="260747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8D6E5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 intelligence catches what behavioral systems miss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005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478631"/>
            <a:ext cx="8636000" cy="314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9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Massive Market, Urgent Need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460772" y="1002246"/>
            <a:ext cx="2640732" cy="1314896"/>
          </a:xfrm>
          <a:prstGeom prst="roundRect">
            <a:avLst>
              <a:gd name="adj" fmla="val 10141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5794" y="1205843"/>
            <a:ext cx="2290688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$39B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5794" y="1648755"/>
            <a:ext cx="2290688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UAE cross-border remittances (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), growing to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$50B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by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2031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4.85%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CAGR (Ken Research)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51522" y="1002246"/>
            <a:ext cx="2640843" cy="1314896"/>
          </a:xfrm>
          <a:prstGeom prst="roundRect">
            <a:avLst>
              <a:gd name="adj" fmla="val 10141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26544" y="1205843"/>
            <a:ext cx="22908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88%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426544" y="1648755"/>
            <a:ext cx="2290800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Dubai transactions are already digital non-cash — the attack surface is enormous (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042385" y="1002246"/>
            <a:ext cx="2640843" cy="1314896"/>
          </a:xfrm>
          <a:prstGeom prst="roundRect">
            <a:avLst>
              <a:gd name="adj" fmla="val 10141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7407" y="1205843"/>
            <a:ext cx="2290800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$4.5B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217407" y="1648755"/>
            <a:ext cx="2290800" cy="4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Projected MENA fintech revenue by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2025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up from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$1.5B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2022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3x growth in 3 years (McKinsey)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457200" y="2520739"/>
            <a:ext cx="8229600" cy="71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2727908"/>
            <a:ext cx="470533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Revenue Model</a:t>
            </a:r>
            <a:endParaRPr lang="en-US" sz="844" dirty="0"/>
          </a:p>
        </p:txBody>
      </p:sp>
      <p:sp>
        <p:nvSpPr>
          <p:cNvPr id="15" name="Text 12"/>
          <p:cNvSpPr/>
          <p:nvPr/>
        </p:nvSpPr>
        <p:spPr>
          <a:xfrm>
            <a:off x="457200" y="2931505"/>
            <a:ext cx="4014788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Per-transaction API orchestration fee (fraction of a cent per check) + premium tier for step-up orchestration intelligence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72013" y="2727908"/>
            <a:ext cx="421552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Customers</a:t>
            </a:r>
            <a:endParaRPr lang="en-US" sz="844" dirty="0"/>
          </a:p>
        </p:txBody>
      </p:sp>
      <p:sp>
        <p:nvSpPr>
          <p:cNvPr id="17" name="Text 14"/>
          <p:cNvSpPr/>
          <p:nvPr/>
        </p:nvSpPr>
        <p:spPr>
          <a:xfrm>
            <a:off x="4672013" y="2931505"/>
            <a:ext cx="4014788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UAE and Saudi neobanks, digital remittance platforms, cross-border payment processors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36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TrustMesh Beats the Status Quo</a:t>
            </a:r>
            <a:endParaRPr lang="en-US" sz="2025" dirty="0"/>
          </a:p>
        </p:txBody>
      </p:sp>
      <p:sp>
        <p:nvSpPr>
          <p:cNvPr id="3" name="Shape 1"/>
          <p:cNvSpPr/>
          <p:nvPr/>
        </p:nvSpPr>
        <p:spPr>
          <a:xfrm>
            <a:off x="457200" y="1325166"/>
            <a:ext cx="2743200" cy="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57263"/>
            <a:ext cx="2743200" cy="405051"/>
          </a:xfrm>
          <a:prstGeom prst="rect">
            <a:avLst/>
          </a:prstGeom>
          <a:noFill/>
          <a:ln/>
        </p:spPr>
        <p:txBody>
          <a:bodyPr wrap="none" lIns="142875" tIns="100013" rIns="142875" bIns="100013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34" kern="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</a:t>
            </a:r>
            <a:endParaRPr lang="en-US" sz="844" dirty="0"/>
          </a:p>
        </p:txBody>
      </p:sp>
      <p:sp>
        <p:nvSpPr>
          <p:cNvPr id="5" name="Shape 3"/>
          <p:cNvSpPr/>
          <p:nvPr/>
        </p:nvSpPr>
        <p:spPr>
          <a:xfrm>
            <a:off x="3200400" y="1325166"/>
            <a:ext cx="2743200" cy="0"/>
          </a:xfrm>
          <a:prstGeom prst="line">
            <a:avLst/>
          </a:prstGeom>
          <a:noFill/>
          <a:ln w="14288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957263"/>
            <a:ext cx="2743200" cy="405051"/>
          </a:xfrm>
          <a:prstGeom prst="rect">
            <a:avLst/>
          </a:prstGeom>
          <a:noFill/>
          <a:ln/>
        </p:spPr>
        <p:txBody>
          <a:bodyPr wrap="square" lIns="142875" tIns="100013" rIns="142875" bIns="100013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34" kern="0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TRADITIONAL FRAUD DETECTION</a:t>
            </a:r>
            <a:endParaRPr lang="en-US" sz="844" dirty="0"/>
          </a:p>
        </p:txBody>
      </p:sp>
      <p:sp>
        <p:nvSpPr>
          <p:cNvPr id="7" name="Shape 5"/>
          <p:cNvSpPr/>
          <p:nvPr/>
        </p:nvSpPr>
        <p:spPr>
          <a:xfrm>
            <a:off x="5943600" y="1325166"/>
            <a:ext cx="2743200" cy="0"/>
          </a:xfrm>
          <a:prstGeom prst="line">
            <a:avLst/>
          </a:prstGeom>
          <a:noFill/>
          <a:ln w="14288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957263"/>
            <a:ext cx="2743200" cy="405051"/>
          </a:xfrm>
          <a:prstGeom prst="rect">
            <a:avLst/>
          </a:prstGeom>
          <a:noFill/>
          <a:ln/>
        </p:spPr>
        <p:txBody>
          <a:bodyPr wrap="none" lIns="142875" tIns="100013" rIns="142875" bIns="100013" rtlCol="0" anchor="t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spc="34" kern="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TRUSTMESH</a:t>
            </a:r>
            <a:endParaRPr lang="en-US" sz="844" dirty="0"/>
          </a:p>
        </p:txBody>
      </p:sp>
      <p:sp>
        <p:nvSpPr>
          <p:cNvPr id="9" name="Shape 7"/>
          <p:cNvSpPr/>
          <p:nvPr/>
        </p:nvSpPr>
        <p:spPr>
          <a:xfrm>
            <a:off x="457200" y="1775222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32309"/>
            <a:ext cx="2743200" cy="439341"/>
          </a:xfrm>
          <a:prstGeom prst="rect">
            <a:avLst/>
          </a:prstGeom>
          <a:solidFill>
            <a:srgbClr val="111D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1332309"/>
            <a:ext cx="2743200" cy="439341"/>
          </a:xfrm>
          <a:prstGeom prst="rect">
            <a:avLst/>
          </a:prstGeom>
          <a:noFill/>
          <a:ln/>
        </p:spPr>
        <p:txBody>
          <a:bodyPr wrap="none" lIns="142875" tIns="128588" rIns="142875" bIns="128588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 Swap Detection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3200400" y="1332309"/>
            <a:ext cx="2743200" cy="439341"/>
          </a:xfrm>
          <a:prstGeom prst="rect">
            <a:avLst/>
          </a:prstGeom>
          <a:solidFill>
            <a:srgbClr val="111D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57873" y="147339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EF444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✕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4286473" y="1460897"/>
            <a:ext cx="151425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EF444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available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5943600" y="1332309"/>
            <a:ext cx="2743200" cy="439341"/>
          </a:xfrm>
          <a:prstGeom prst="rect">
            <a:avLst/>
          </a:prstGeom>
          <a:solidFill>
            <a:srgbClr val="111D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47458" y="147339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17" name="Text 15"/>
          <p:cNvSpPr/>
          <p:nvPr/>
        </p:nvSpPr>
        <p:spPr>
          <a:xfrm>
            <a:off x="6676058" y="1460897"/>
            <a:ext cx="186786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via 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CAMARA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API</a:t>
            </a:r>
            <a:endParaRPr lang="en-US" sz="956" dirty="0"/>
          </a:p>
        </p:txBody>
      </p:sp>
      <p:sp>
        <p:nvSpPr>
          <p:cNvPr id="18" name="Shape 16"/>
          <p:cNvSpPr/>
          <p:nvPr/>
        </p:nvSpPr>
        <p:spPr>
          <a:xfrm>
            <a:off x="457200" y="2221706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778794"/>
            <a:ext cx="2743200" cy="439341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1778794"/>
            <a:ext cx="2743200" cy="439341"/>
          </a:xfrm>
          <a:prstGeom prst="rect">
            <a:avLst/>
          </a:prstGeom>
          <a:noFill/>
          <a:ln/>
        </p:spPr>
        <p:txBody>
          <a:bodyPr wrap="none" lIns="142875" tIns="128588" rIns="142875" bIns="128588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Decision Logic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3200400" y="1778794"/>
            <a:ext cx="2743200" cy="439341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200400" y="1778794"/>
            <a:ext cx="2743200" cy="439341"/>
          </a:xfrm>
          <a:prstGeom prst="rect">
            <a:avLst/>
          </a:prstGeom>
          <a:noFill/>
          <a:ln/>
        </p:spPr>
        <p:txBody>
          <a:bodyPr wrap="none" lIns="142875" tIns="128588" rIns="142875" bIns="128588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Hardcoded rules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5943600" y="1778794"/>
            <a:ext cx="2743200" cy="439341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37263" y="191988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25" name="Text 23"/>
          <p:cNvSpPr/>
          <p:nvPr/>
        </p:nvSpPr>
        <p:spPr>
          <a:xfrm>
            <a:off x="6365863" y="1907381"/>
            <a:ext cx="228779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LLM-powered contextual reasoning</a:t>
            </a:r>
            <a:endParaRPr lang="en-US" sz="956" dirty="0"/>
          </a:p>
        </p:txBody>
      </p:sp>
      <p:sp>
        <p:nvSpPr>
          <p:cNvPr id="26" name="Shape 24"/>
          <p:cNvSpPr/>
          <p:nvPr/>
        </p:nvSpPr>
        <p:spPr>
          <a:xfrm>
            <a:off x="457200" y="2668191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225278"/>
            <a:ext cx="2743200" cy="439341"/>
          </a:xfrm>
          <a:prstGeom prst="rect">
            <a:avLst/>
          </a:prstGeom>
          <a:solidFill>
            <a:srgbClr val="111D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7200" y="2225278"/>
            <a:ext cx="2743200" cy="439341"/>
          </a:xfrm>
          <a:prstGeom prst="rect">
            <a:avLst/>
          </a:prstGeom>
          <a:noFill/>
          <a:ln/>
        </p:spPr>
        <p:txBody>
          <a:bodyPr wrap="none" lIns="142875" tIns="128588" rIns="142875" bIns="128588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</a:t>
            </a:r>
            <a:endParaRPr lang="en-US" sz="956" dirty="0"/>
          </a:p>
        </p:txBody>
      </p:sp>
      <p:sp>
        <p:nvSpPr>
          <p:cNvPr id="29" name="Text 27"/>
          <p:cNvSpPr/>
          <p:nvPr/>
        </p:nvSpPr>
        <p:spPr>
          <a:xfrm>
            <a:off x="3200400" y="2225278"/>
            <a:ext cx="2743200" cy="439341"/>
          </a:xfrm>
          <a:prstGeom prst="rect">
            <a:avLst/>
          </a:prstGeom>
          <a:solidFill>
            <a:srgbClr val="111D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00400" y="2225278"/>
            <a:ext cx="2743200" cy="439341"/>
          </a:xfrm>
          <a:prstGeom prst="rect">
            <a:avLst/>
          </a:prstGeom>
          <a:noFill/>
          <a:ln/>
        </p:spPr>
        <p:txBody>
          <a:bodyPr wrap="none" lIns="142875" tIns="128588" rIns="142875" bIns="128588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Binary: block or allow</a:t>
            </a:r>
            <a:endParaRPr lang="en-US" sz="956" dirty="0"/>
          </a:p>
        </p:txBody>
      </p:sp>
      <p:sp>
        <p:nvSpPr>
          <p:cNvPr id="31" name="Text 29"/>
          <p:cNvSpPr/>
          <p:nvPr/>
        </p:nvSpPr>
        <p:spPr>
          <a:xfrm>
            <a:off x="5943600" y="2225278"/>
            <a:ext cx="2743200" cy="439341"/>
          </a:xfrm>
          <a:prstGeom prst="rect">
            <a:avLst/>
          </a:prstGeom>
          <a:solidFill>
            <a:srgbClr val="111D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59153" y="2366367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6487753" y="2353866"/>
            <a:ext cx="205617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Nuanced step-up orchestration</a:t>
            </a:r>
            <a:endParaRPr lang="en-US" sz="956" dirty="0"/>
          </a:p>
        </p:txBody>
      </p:sp>
      <p:sp>
        <p:nvSpPr>
          <p:cNvPr id="34" name="Shape 32"/>
          <p:cNvSpPr/>
          <p:nvPr/>
        </p:nvSpPr>
        <p:spPr>
          <a:xfrm>
            <a:off x="457200" y="3296841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671763"/>
            <a:ext cx="2743200" cy="621506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57200" y="2671763"/>
            <a:ext cx="2743200" cy="621506"/>
          </a:xfrm>
          <a:prstGeom prst="rect">
            <a:avLst/>
          </a:prstGeom>
          <a:noFill/>
          <a:ln/>
        </p:spPr>
        <p:txBody>
          <a:bodyPr wrap="none" lIns="142875" tIns="128588" rIns="142875" bIns="128588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956" dirty="0"/>
          </a:p>
        </p:txBody>
      </p:sp>
      <p:sp>
        <p:nvSpPr>
          <p:cNvPr id="37" name="Text 35"/>
          <p:cNvSpPr/>
          <p:nvPr/>
        </p:nvSpPr>
        <p:spPr>
          <a:xfrm>
            <a:off x="3200400" y="2671763"/>
            <a:ext cx="2743200" cy="621506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200400" y="2671763"/>
            <a:ext cx="2743200" cy="621506"/>
          </a:xfrm>
          <a:prstGeom prst="rect">
            <a:avLst/>
          </a:prstGeom>
          <a:noFill/>
          <a:ln/>
        </p:spPr>
        <p:txBody>
          <a:bodyPr wrap="square" lIns="142875" tIns="128588" rIns="142875" bIns="128588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Months of custom development</a:t>
            </a:r>
            <a:endParaRPr lang="en-US" sz="956" dirty="0"/>
          </a:p>
        </p:txBody>
      </p:sp>
      <p:sp>
        <p:nvSpPr>
          <p:cNvPr id="39" name="Text 37"/>
          <p:cNvSpPr/>
          <p:nvPr/>
        </p:nvSpPr>
        <p:spPr>
          <a:xfrm>
            <a:off x="5943600" y="2671763"/>
            <a:ext cx="2743200" cy="621506"/>
          </a:xfrm>
          <a:prstGeom prst="rect">
            <a:avLst/>
          </a:prstGeom>
          <a:solidFill>
            <a:srgbClr val="0B1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86475" y="290393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41" name="Text 39"/>
          <p:cNvSpPr/>
          <p:nvPr/>
        </p:nvSpPr>
        <p:spPr>
          <a:xfrm>
            <a:off x="6315075" y="2800350"/>
            <a:ext cx="22288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Webhook + 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</a:t>
            </a:r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drops into existing flow</a:t>
            </a:r>
            <a:endParaRPr lang="en-US" sz="956" dirty="0"/>
          </a:p>
        </p:txBody>
      </p:sp>
      <p:sp>
        <p:nvSpPr>
          <p:cNvPr id="42" name="Text 40"/>
          <p:cNvSpPr/>
          <p:nvPr/>
        </p:nvSpPr>
        <p:spPr>
          <a:xfrm>
            <a:off x="457200" y="3300413"/>
            <a:ext cx="2743200" cy="439341"/>
          </a:xfrm>
          <a:prstGeom prst="rect">
            <a:avLst/>
          </a:prstGeom>
          <a:solidFill>
            <a:srgbClr val="111D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57200" y="3300413"/>
            <a:ext cx="2743200" cy="474488"/>
          </a:xfrm>
          <a:prstGeom prst="rect">
            <a:avLst/>
          </a:prstGeom>
          <a:noFill/>
          <a:ln/>
        </p:spPr>
        <p:txBody>
          <a:bodyPr wrap="none" lIns="142875" tIns="128588" rIns="142875" bIns="128588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MENA Context</a:t>
            </a:r>
            <a:endParaRPr lang="en-US" sz="956" dirty="0"/>
          </a:p>
        </p:txBody>
      </p:sp>
      <p:sp>
        <p:nvSpPr>
          <p:cNvPr id="44" name="Text 42"/>
          <p:cNvSpPr/>
          <p:nvPr/>
        </p:nvSpPr>
        <p:spPr>
          <a:xfrm>
            <a:off x="3200400" y="3300413"/>
            <a:ext cx="2743200" cy="439341"/>
          </a:xfrm>
          <a:prstGeom prst="rect">
            <a:avLst/>
          </a:prstGeom>
          <a:solidFill>
            <a:srgbClr val="111D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200400" y="3300413"/>
            <a:ext cx="2743200" cy="474488"/>
          </a:xfrm>
          <a:prstGeom prst="rect">
            <a:avLst/>
          </a:prstGeom>
          <a:noFill/>
          <a:ln/>
        </p:spPr>
        <p:txBody>
          <a:bodyPr wrap="none" lIns="142875" tIns="128588" rIns="142875" bIns="128588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Generic global models</a:t>
            </a:r>
            <a:endParaRPr lang="en-US" sz="956" dirty="0"/>
          </a:p>
        </p:txBody>
      </p:sp>
      <p:sp>
        <p:nvSpPr>
          <p:cNvPr id="46" name="Text 44"/>
          <p:cNvSpPr/>
          <p:nvPr/>
        </p:nvSpPr>
        <p:spPr>
          <a:xfrm>
            <a:off x="5943600" y="3300413"/>
            <a:ext cx="2743200" cy="439341"/>
          </a:xfrm>
          <a:prstGeom prst="rect">
            <a:avLst/>
          </a:prstGeom>
          <a:solidFill>
            <a:srgbClr val="111D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79009" y="344150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48" name="Text 46"/>
          <p:cNvSpPr/>
          <p:nvPr/>
        </p:nvSpPr>
        <p:spPr>
          <a:xfrm>
            <a:off x="6407609" y="3429000"/>
            <a:ext cx="220716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for Gulf remittance corridors</a:t>
            </a:r>
            <a:endParaRPr lang="en-US" sz="956" dirty="0"/>
          </a:p>
        </p:txBody>
      </p:sp>
      <p:sp>
        <p:nvSpPr>
          <p:cNvPr id="49" name="Text 47"/>
          <p:cNvSpPr/>
          <p:nvPr/>
        </p:nvSpPr>
        <p:spPr>
          <a:xfrm>
            <a:off x="457200" y="4675584"/>
            <a:ext cx="8229600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i="1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TrustMesh turns invisible telecom signals into actionable fraud intelligence — in </a:t>
            </a:r>
            <a:pPr algn="ctr" indent="0" marL="0">
              <a:lnSpc>
                <a:spcPts val="1434"/>
              </a:lnSpc>
              <a:buNone/>
            </a:pPr>
            <a:r>
              <a:rPr lang="en-US" sz="956" i="1" dirty="0">
                <a:solidFill>
                  <a:srgbClr val="3B82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</a:t>
            </a:r>
            <a:pPr algn="ctr" indent="0" marL="0">
              <a:lnSpc>
                <a:spcPts val="1434"/>
              </a:lnSpc>
              <a:buNone/>
            </a:pPr>
            <a:r>
              <a:rPr lang="en-US" sz="956" i="1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milliseconds.</a:t>
            </a:r>
            <a:endParaRPr lang="en-US" sz="95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00550" y="792956"/>
            <a:ext cx="342900" cy="21431"/>
          </a:xfrm>
          <a:prstGeom prst="roundRect">
            <a:avLst>
              <a:gd name="adj" fmla="val 8889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985838"/>
            <a:ext cx="8595248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38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Team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1075134" y="1775222"/>
            <a:ext cx="2135981" cy="2021681"/>
          </a:xfrm>
          <a:prstGeom prst="roundRect">
            <a:avLst>
              <a:gd name="adj" fmla="val 5654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918097" y="2039541"/>
            <a:ext cx="450056" cy="450056"/>
          </a:xfrm>
          <a:prstGeom prst="ellipse">
            <a:avLst/>
          </a:prstGeom>
          <a:solidFill>
            <a:srgbClr val="0B1426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77390" y="2098834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C8D6E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55482" y="2607469"/>
            <a:ext cx="1175286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r>
              <a:t>ATHIRA ANIL KUMAR</a:t>
            </a:r>
          </a:p>
        </p:txBody>
      </p:sp>
      <p:sp>
        <p:nvSpPr>
          <p:cNvPr id="8" name="Text 6"/>
          <p:cNvSpPr/>
          <p:nvPr/>
        </p:nvSpPr>
        <p:spPr>
          <a:xfrm>
            <a:off x="1278731" y="2850356"/>
            <a:ext cx="1728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Full-Stack &amp; AI Engineer</a:t>
            </a:r>
          </a:p>
        </p:txBody>
      </p:sp>
      <p:sp>
        <p:nvSpPr>
          <p:cNvPr id="9" name="Text 7"/>
          <p:cNvSpPr/>
          <p:nvPr/>
        </p:nvSpPr>
        <p:spPr>
          <a:xfrm>
            <a:off x="1278731" y="3236119"/>
            <a:ext cx="17287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AI engineer specializing in natural language processing and agent frameworks.</a:t>
            </a:r>
          </a:p>
        </p:txBody>
      </p:sp>
      <p:sp>
        <p:nvSpPr>
          <p:cNvPr id="10" name="Text 8"/>
          <p:cNvSpPr/>
          <p:nvPr/>
        </p:nvSpPr>
        <p:spPr>
          <a:xfrm>
            <a:off x="3504009" y="1775222"/>
            <a:ext cx="2135981" cy="2021681"/>
          </a:xfrm>
          <a:prstGeom prst="roundRect">
            <a:avLst>
              <a:gd name="adj" fmla="val 5654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46972" y="2039541"/>
            <a:ext cx="450056" cy="450056"/>
          </a:xfrm>
          <a:prstGeom prst="ellipse">
            <a:avLst/>
          </a:prstGeom>
          <a:solidFill>
            <a:srgbClr val="0B1426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06265" y="2098834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/>
        </p:txBody>
      </p:sp>
      <p:sp>
        <p:nvSpPr>
          <p:cNvPr id="13" name="Text 11"/>
          <p:cNvSpPr/>
          <p:nvPr/>
        </p:nvSpPr>
        <p:spPr>
          <a:xfrm>
            <a:off x="3984357" y="2607469"/>
            <a:ext cx="1175286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/>
        </p:txBody>
      </p:sp>
      <p:sp>
        <p:nvSpPr>
          <p:cNvPr id="14" name="Text 12"/>
          <p:cNvSpPr/>
          <p:nvPr/>
        </p:nvSpPr>
        <p:spPr>
          <a:xfrm>
            <a:off x="3707606" y="2850356"/>
            <a:ext cx="1728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15" name="Text 13"/>
          <p:cNvSpPr/>
          <p:nvPr/>
        </p:nvSpPr>
        <p:spPr>
          <a:xfrm>
            <a:off x="3707606" y="3236119"/>
            <a:ext cx="17287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16" name="Text 14"/>
          <p:cNvSpPr/>
          <p:nvPr/>
        </p:nvSpPr>
        <p:spPr>
          <a:xfrm>
            <a:off x="5932884" y="1775222"/>
            <a:ext cx="2135981" cy="2021681"/>
          </a:xfrm>
          <a:prstGeom prst="roundRect">
            <a:avLst>
              <a:gd name="adj" fmla="val 5654"/>
            </a:avLst>
          </a:prstGeom>
          <a:solidFill>
            <a:srgbClr val="111D33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75847" y="2039541"/>
            <a:ext cx="450056" cy="450056"/>
          </a:xfrm>
          <a:prstGeom prst="ellipse">
            <a:avLst/>
          </a:prstGeom>
          <a:solidFill>
            <a:srgbClr val="0B1426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35140" y="2098834"/>
            <a:ext cx="33147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/>
        </p:txBody>
      </p:sp>
      <p:sp>
        <p:nvSpPr>
          <p:cNvPr id="19" name="Text 17"/>
          <p:cNvSpPr/>
          <p:nvPr/>
        </p:nvSpPr>
        <p:spPr>
          <a:xfrm>
            <a:off x="6413232" y="2607469"/>
            <a:ext cx="1175286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/>
        </p:txBody>
      </p:sp>
      <p:sp>
        <p:nvSpPr>
          <p:cNvPr id="20" name="Text 18"/>
          <p:cNvSpPr/>
          <p:nvPr/>
        </p:nvSpPr>
        <p:spPr>
          <a:xfrm>
            <a:off x="6136481" y="2850356"/>
            <a:ext cx="17287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21" name="Text 19"/>
          <p:cNvSpPr/>
          <p:nvPr/>
        </p:nvSpPr>
        <p:spPr>
          <a:xfrm>
            <a:off x="6136481" y="3236119"/>
            <a:ext cx="172878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  <p:sp>
        <p:nvSpPr>
          <p:cNvPr id="22" name="Text 20"/>
          <p:cNvSpPr/>
          <p:nvPr/>
        </p:nvSpPr>
        <p:spPr>
          <a:xfrm>
            <a:off x="3227970" y="4200525"/>
            <a:ext cx="26880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8875" y="1143000"/>
            <a:ext cx="4286250" cy="2857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8875" y="1143000"/>
            <a:ext cx="4286250" cy="28575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578796" y="1301948"/>
            <a:ext cx="1986409" cy="203597"/>
          </a:xfrm>
          <a:prstGeom prst="roundRect">
            <a:avLst>
              <a:gd name="adj" fmla="val 467836"/>
            </a:avLst>
          </a:prstGeom>
          <a:solidFill>
            <a:srgbClr val="3B82F6">
              <a:alpha val="15000"/>
            </a:srgbClr>
          </a:solidFill>
          <a:ln w="7144">
            <a:solidFill>
              <a:srgbClr val="3B82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575224" y="1298377"/>
            <a:ext cx="1993553" cy="248998"/>
          </a:xfrm>
          <a:prstGeom prst="rect">
            <a:avLst/>
          </a:prstGeom>
          <a:noFill/>
          <a:ln/>
        </p:spPr>
        <p:txBody>
          <a:bodyPr wrap="square" lIns="85725" tIns="28575" rIns="85725" bIns="28575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spc="44" kern="0" dirty="0">
                <a:solidFill>
                  <a:srgbClr val="60A5F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MENA IGNITE HACKATHON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74320" y="1794867"/>
            <a:ext cx="8595248" cy="601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88"/>
              </a:lnSpc>
              <a:buNone/>
            </a:pPr>
            <a:r>
              <a:rPr lang="en-US" sz="2925" b="1" spc="-5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TrustMesh</a:t>
            </a:r>
            <a:endParaRPr lang="en-US" sz="2925" dirty="0"/>
          </a:p>
        </p:txBody>
      </p:sp>
      <p:sp>
        <p:nvSpPr>
          <p:cNvPr id="7" name="Text 4"/>
          <p:cNvSpPr/>
          <p:nvPr/>
        </p:nvSpPr>
        <p:spPr>
          <a:xfrm>
            <a:off x="2282258" y="2494955"/>
            <a:ext cx="4579483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spc="-12" kern="0" dirty="0">
                <a:solidFill>
                  <a:srgbClr val="3B82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Turning Network Intelligence into Fraud Defense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4343400" y="2987873"/>
            <a:ext cx="457200" cy="21431"/>
          </a:xfrm>
          <a:prstGeom prst="roundRect">
            <a:avLst>
              <a:gd name="adj" fmla="val 8889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700454" y="3266480"/>
            <a:ext cx="3742981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See you at MWC Doha, November 2026</a:t>
            </a:r>
            <a:endParaRPr lang="en-US" sz="1238" dirty="0"/>
          </a:p>
        </p:txBody>
      </p:sp>
      <p:sp>
        <p:nvSpPr>
          <p:cNvPr id="10" name="Text 7"/>
          <p:cNvSpPr/>
          <p:nvPr/>
        </p:nvSpPr>
        <p:spPr>
          <a:xfrm>
            <a:off x="0" y="4650581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C8D6E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GSMA Open Gateway Hackathon </a:t>
            </a:r>
            <a:pPr algn="ctr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FFFFFF">
                    <a:alpha val="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|</a:t>
            </a:r>
            <a:pPr algn="ctr" indent="0" marL="0">
              <a:lnSpc>
                <a:spcPts val="1181"/>
              </a:lnSpc>
              <a:buNone/>
            </a:pPr>
            <a:r>
              <a:rPr lang="en-US" sz="800" spc="16" kern="0" dirty="0">
                <a:solidFill>
                  <a:srgbClr val="C8D6E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Theme 4: Secure Fintech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2026-07-15T11:02:58Z</dcterms:created>
  <dcterms:modified xsi:type="dcterms:W3CDTF">2026-07-15T11:02:58Z</dcterms:modified>
</cp:coreProperties>
</file>